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Final Presentation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pic>
        <p:nvPicPr>
          <p:cNvPr id="7" name="Image 0" descr="/mnt/data/report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114300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8288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DVSA Vulnerability Discovery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Remediation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13232" y="30540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E3C0"/>
                </a:solidFill>
              </a:rPr>
              <a:t>ICS-344 Information Security • Section 03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13232" y="3529584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6"/>
                </a:solidFill>
              </a:rPr>
              <a:t>AMJAD ALSADIQ | 202269000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0F6"/>
                </a:solidFill>
              </a:rPr>
              <a:t>AWS Region: us-east-1 • DVSA on AWS Serverless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06640" y="2057400"/>
            <a:ext cx="82296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144000" y="2057400"/>
            <a:ext cx="82296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0881360" y="2057400"/>
            <a:ext cx="64008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629400" y="1737360"/>
            <a:ext cx="777240" cy="640080"/>
          </a:xfrm>
          <a:prstGeom prst="roundRect">
            <a:avLst>
              <a:gd name="adj" fmla="val 17143"/>
            </a:avLst>
          </a:prstGeom>
          <a:solidFill>
            <a:srgbClr val="17212B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02552" y="1847088"/>
            <a:ext cx="630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Client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1627632"/>
            <a:ext cx="914400" cy="868680"/>
          </a:xfrm>
          <a:prstGeom prst="roundRect">
            <a:avLst>
              <a:gd name="adj" fmla="val 12632"/>
            </a:avLst>
          </a:prstGeom>
          <a:solidFill>
            <a:srgbClr val="17212B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2752" y="1737360"/>
            <a:ext cx="7680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Gateway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966960" y="1627632"/>
            <a:ext cx="914400" cy="868680"/>
          </a:xfrm>
          <a:prstGeom prst="roundRect">
            <a:avLst>
              <a:gd name="adj" fmla="val 12632"/>
            </a:avLst>
          </a:prstGeom>
          <a:solidFill>
            <a:srgbClr val="17212B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40112" y="1737360"/>
            <a:ext cx="7680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Lambda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Functions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972800" y="1627632"/>
            <a:ext cx="914400" cy="868680"/>
          </a:xfrm>
          <a:prstGeom prst="roundRect">
            <a:avLst>
              <a:gd name="adj" fmla="val 12632"/>
            </a:avLst>
          </a:prstGeom>
          <a:solidFill>
            <a:srgbClr val="17212B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045952" y="1737360"/>
            <a:ext cx="7680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DynamoDB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S3 / SES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086600" y="297180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8FA"/>
                </a:solidFill>
              </a:rPr>
              <a:t>10 official DVSA lessons exploited, fixed, and verified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086600" y="3822192"/>
            <a:ext cx="489204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0F6"/>
                </a:solidFill>
              </a:rPr>
              <a:t>• Evidence captured from browser, terminal, CloudWatch, IAM, S3, DynamoDB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0F6"/>
                </a:solidFill>
              </a:rPr>
              <a:t>• Fixes applied in the correct backend / cloud-security layer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0F6"/>
                </a:solidFill>
              </a:rPr>
              <a:t>• Verification repeated after each fix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 &amp; Serverless Pipeline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DVSA was deployed in a controlled AWS account and tested through the same public API used by the frontend.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788920"/>
            <a:ext cx="123444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2788920"/>
            <a:ext cx="123444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2788920"/>
            <a:ext cx="123444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2788920"/>
            <a:ext cx="123444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" y="2331720"/>
            <a:ext cx="1097280" cy="914400"/>
          </a:xfrm>
          <a:prstGeom prst="roundRect">
            <a:avLst>
              <a:gd name="adj" fmla="val 12000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41448"/>
            <a:ext cx="950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S3 static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frontend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2331720"/>
            <a:ext cx="1097280" cy="914400"/>
          </a:xfrm>
          <a:prstGeom prst="roundRect">
            <a:avLst>
              <a:gd name="adj" fmla="val 12000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2441448"/>
            <a:ext cx="950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Gateway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2331720"/>
            <a:ext cx="1097280" cy="914400"/>
          </a:xfrm>
          <a:prstGeom prst="roundRect">
            <a:avLst>
              <a:gd name="adj" fmla="val 12000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2441448"/>
            <a:ext cx="950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Order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Manager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2331720"/>
            <a:ext cx="1097280" cy="914400"/>
          </a:xfrm>
          <a:prstGeom prst="roundRect">
            <a:avLst>
              <a:gd name="adj" fmla="val 12000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2441448"/>
            <a:ext cx="9509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Lambdas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46920" y="2331720"/>
            <a:ext cx="1234440" cy="914400"/>
          </a:xfrm>
          <a:prstGeom prst="roundRect">
            <a:avLst>
              <a:gd name="adj" fmla="val 12000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0072" y="2441448"/>
            <a:ext cx="108813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DynamoDB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S3 / 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069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8FA"/>
                </a:solidFill>
              </a:rPr>
              <a:t>Testing approach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13232" y="4480560"/>
            <a:ext cx="49377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Interact with DVSA normally to understand intended behavior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Send controlled malformed or malicious requests to the same API path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Collect evidence from AWS services and local tools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Patch code/configuration, redeploy, then rerun the same test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6400800" y="4069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F8FA"/>
                </a:solidFill>
              </a:rPr>
              <a:t>Core services examined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19088" y="4480560"/>
            <a:ext cx="47548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Lambda functions and execution roles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API Gateway stage settings and routes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Cognito JWT handling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S3 bucket permissions and event triggers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DynamoDB order state and records</a:t>
            </a:r>
            <a:endParaRPr lang="en-US" sz="1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Investigation Methodology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Every lesson followed the same evidence-driven cycle: prove the issue, apply the fix, then verify the exact attack path no longer succeeds.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2011680"/>
            <a:ext cx="64008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2011680"/>
            <a:ext cx="64008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55080" y="2011680"/>
            <a:ext cx="64008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2011680"/>
            <a:ext cx="64008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700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5024" y="16184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A"/>
                </a:solidFill>
              </a:rPr>
              <a:t>Understand intended flow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80360" y="1572768"/>
            <a:ext cx="502920" cy="50292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1700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83864" y="16184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A"/>
                </a:solidFill>
              </a:rPr>
              <a:t>Trigger vulnerable behavior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0" y="1572768"/>
            <a:ext cx="502920" cy="50292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700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32704" y="16184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A"/>
                </a:solidFill>
              </a:rPr>
              <a:t>Capture proof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178040" y="1572768"/>
            <a:ext cx="502920" cy="50292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700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81544" y="16184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A"/>
                </a:solidFill>
              </a:rPr>
              <a:t>Patch root cause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0" y="1572768"/>
            <a:ext cx="502920" cy="50292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1700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30384" y="16184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8FA"/>
                </a:solidFill>
              </a:rPr>
              <a:t>Repeat test after fix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3035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C0"/>
                </a:solidFill>
              </a:rPr>
              <a:t>EVIDENCE TYPES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3401568"/>
            <a:ext cx="50292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Browser DevTools request/response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CloudWatch execution logs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AWS Console evidence: IAM, S3, DynamoDB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Terminal output from curl, jq, AWS CLI</a:t>
            </a:r>
            <a:endParaRPr lang="en-US" sz="1540" dirty="0"/>
          </a:p>
        </p:txBody>
      </p:sp>
      <p:sp>
        <p:nvSpPr>
          <p:cNvPr id="31" name="Text 29"/>
          <p:cNvSpPr/>
          <p:nvPr/>
        </p:nvSpPr>
        <p:spPr>
          <a:xfrm>
            <a:off x="6446520" y="3035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C0"/>
                </a:solidFill>
              </a:rPr>
              <a:t>FIX QUALITY CHECKS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3401568"/>
            <a:ext cx="47548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Fix applied at root cause, not UI-only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Same exploit repeated unchanged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Expected function preserved where possible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Sensitive values blurred or redacted</a:t>
            </a:r>
            <a:endParaRPr lang="en-US" sz="1540" dirty="0"/>
          </a:p>
        </p:txBody>
      </p:sp>
      <p:sp>
        <p:nvSpPr>
          <p:cNvPr id="33" name="Text 31"/>
          <p:cNvSpPr/>
          <p:nvPr/>
        </p:nvSpPr>
        <p:spPr>
          <a:xfrm>
            <a:off x="868680" y="57150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Result: complete 10/10 official DVSA lessons, each with exploit evidence, remediation, and post-fix verification.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Findings Snapshot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The official lessons cover input handling, authentication, authorization, cloud configuration, IAM, workflow logic, and error handling.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572768"/>
            <a:ext cx="5349240" cy="612648"/>
          </a:xfrm>
          <a:prstGeom prst="rect">
            <a:avLst/>
          </a:prstGeom>
          <a:solidFill>
            <a:srgbClr val="111A23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66420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63040" y="164592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Event Injection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407408" y="164592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RCE via unsafe deserialization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58368" y="2212848"/>
            <a:ext cx="5349240" cy="612648"/>
          </a:xfrm>
          <a:prstGeom prst="rect">
            <a:avLst/>
          </a:prstGeom>
          <a:solidFill>
            <a:srgbClr val="0E161F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30428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63040" y="228600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Broken Authentication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407408" y="22860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JWT payload trusted without verification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58368" y="2852928"/>
            <a:ext cx="5349240" cy="612648"/>
          </a:xfrm>
          <a:prstGeom prst="rect">
            <a:avLst/>
          </a:prstGeom>
          <a:solidFill>
            <a:srgbClr val="111A23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94436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63040" y="292608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Sensitive Info Disclosure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407408" y="292608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Admin receipt function exposed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58368" y="3493008"/>
            <a:ext cx="5349240" cy="612648"/>
          </a:xfrm>
          <a:prstGeom prst="rect">
            <a:avLst/>
          </a:prstGeom>
          <a:solidFill>
            <a:srgbClr val="0E161F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58444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63040" y="356616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Insecure Cloud Config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407408" y="35661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S3 upload triggered backend flow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58368" y="4133088"/>
            <a:ext cx="5349240" cy="612648"/>
          </a:xfrm>
          <a:prstGeom prst="rect">
            <a:avLst/>
          </a:prstGeom>
          <a:solidFill>
            <a:srgbClr val="111A23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224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63040" y="420624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Broken Access Control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407408" y="42062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User reached admin order update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199632" y="1572768"/>
            <a:ext cx="5349240" cy="612648"/>
          </a:xfrm>
          <a:prstGeom prst="rect">
            <a:avLst/>
          </a:prstGeom>
          <a:solidFill>
            <a:srgbClr val="111A23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66420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04304" y="164592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Denial of Service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9948672" y="164592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Billing flood caused backend failures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199632" y="2212848"/>
            <a:ext cx="5349240" cy="612648"/>
          </a:xfrm>
          <a:prstGeom prst="rect">
            <a:avLst/>
          </a:prstGeom>
          <a:solidFill>
            <a:srgbClr val="0E161F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30428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L7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004304" y="228600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Over-Privileged Function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9948672" y="22860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Lambda role could scan orders DB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6199632" y="2852928"/>
            <a:ext cx="5349240" cy="612648"/>
          </a:xfrm>
          <a:prstGeom prst="rect">
            <a:avLst/>
          </a:prstGeom>
          <a:solidFill>
            <a:srgbClr val="111A23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94436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L8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004304" y="292608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Logic Vulnerability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9948672" y="292608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Paid for 1 item, order stored 5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6199632" y="3493008"/>
            <a:ext cx="5349240" cy="612648"/>
          </a:xfrm>
          <a:prstGeom prst="rect">
            <a:avLst/>
          </a:prstGeom>
          <a:solidFill>
            <a:srgbClr val="0E161F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58444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L9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004304" y="356616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Vulnerable Dependencies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9948672" y="35661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node-serialize critical RCE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6199632" y="4133088"/>
            <a:ext cx="5349240" cy="612648"/>
          </a:xfrm>
          <a:prstGeom prst="rect">
            <a:avLst/>
          </a:prstGeom>
          <a:solidFill>
            <a:srgbClr val="111A23"/>
          </a:solidFill>
          <a:ln w="3810">
            <a:solidFill>
              <a:srgbClr val="2E3B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224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C0"/>
                </a:solidFill>
              </a:rPr>
              <a:t>L10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004304" y="420624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AF0F6"/>
                </a:solidFill>
              </a:rPr>
              <a:t>Unhandled Exceptions</a:t>
            </a:r>
            <a:endParaRPr lang="en-US" sz="1120" dirty="0"/>
          </a:p>
        </p:txBody>
      </p:sp>
      <p:sp>
        <p:nvSpPr>
          <p:cNvPr id="49" name="Text 47"/>
          <p:cNvSpPr/>
          <p:nvPr/>
        </p:nvSpPr>
        <p:spPr>
          <a:xfrm>
            <a:off x="9948672" y="42062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A6B1BD"/>
                </a:solidFill>
              </a:rPr>
              <a:t>Stack trace leaked to client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868680" y="5230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8FA"/>
                </a:solidFill>
              </a:rPr>
              <a:t>Fix families applied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3383280" y="5056632"/>
            <a:ext cx="7955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Safe parsing + input validation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JWT signature and claim verification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Least privilege and S3 public-access blocking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Rate limiting and workflow-state checks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Generic errors with internal logs only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1 &amp; 9 — Event Injection + Vulnerable Dependencies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The same exploit path proved both RCE impact and the dependency root cause.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298448"/>
            <a:ext cx="2057400" cy="292608"/>
          </a:xfrm>
          <a:prstGeom prst="roundRect">
            <a:avLst>
              <a:gd name="adj" fmla="val 25000"/>
            </a:avLst>
          </a:prstGeom>
          <a:solidFill>
            <a:srgbClr val="FF5A5F">
              <a:alpha val="90000"/>
            </a:srgbClr>
          </a:solidFill>
          <a:ln w="12700">
            <a:solidFill>
              <a:srgbClr val="FF5A5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37160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IMPACT: REMOTE CODE EXECUTION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1755648"/>
            <a:ext cx="342900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90" dirty="0">
                <a:solidFill>
                  <a:srgbClr val="EAF0F6"/>
                </a:solidFill>
              </a:rPr>
              <a:t>• node-serialize processed public API input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AF0F6"/>
                </a:solidFill>
              </a:rPr>
              <a:t>• Serialized function payload executed inside Lambda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AF0F6"/>
                </a:solidFill>
              </a:rPr>
              <a:t>• CloudWatch showed attacker-controlled output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AF0F6"/>
                </a:solidFill>
              </a:rPr>
              <a:t>• Fix: replace unsafe deserialization with JSON.parse and remove node-serialize from request path</a:t>
            </a:r>
            <a:endParaRPr lang="en-US" sz="1490" dirty="0"/>
          </a:p>
        </p:txBody>
      </p:sp>
      <p:pic>
        <p:nvPicPr>
          <p:cNvPr id="13" name="Image 0" descr="/mnt/data/report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408880"/>
            <a:ext cx="3337560" cy="7849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434840" y="23591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Vulnerable request parser</a:t>
            </a:r>
            <a:endParaRPr lang="en-US" sz="950" dirty="0"/>
          </a:p>
        </p:txBody>
      </p:sp>
      <p:pic>
        <p:nvPicPr>
          <p:cNvPr id="15" name="Image 1" descr="/mnt/data/Screenshot_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992" y="1298448"/>
            <a:ext cx="1249576" cy="19202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01000" y="32735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Dependency list: node-serialize critical</a:t>
            </a:r>
            <a:endParaRPr lang="en-US" sz="950" dirty="0"/>
          </a:p>
        </p:txBody>
      </p:sp>
      <p:pic>
        <p:nvPicPr>
          <p:cNvPr id="17" name="Image 2" descr="/mnt/data/report_media/image7.png">    </p:cNvPr>
          <p:cNvPicPr>
            <a:picLocks noChangeAspect="1"/>
          </p:cNvPicPr>
          <p:nvPr/>
        </p:nvPicPr>
        <p:blipFill>
          <a:blip r:embed="rId3"/>
          <a:srcRect l="600" r="600" t="0" b="0"/>
          <a:stretch/>
        </p:blipFill>
        <p:spPr>
          <a:xfrm>
            <a:off x="4434840" y="3547872"/>
            <a:ext cx="6903720" cy="1783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34840" y="5385816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CloudWatch proof: injected code executed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434840" y="5687568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E3C0"/>
                </a:solidFill>
              </a:rPr>
              <a:t>Post-fix signal: the same payload no longer produced the “YOU GOT: HACKED” log entry.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2 — Broken Authentication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A forged JWT payload was accepted before signature and claim validation were added.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17320"/>
            <a:ext cx="416052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Normal rule: only Cognito-issued, verified JWTs should identify the user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Exploit: attacker modified username/sub claims and reused the token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Impact: victim orders returned through the attacker-controlled request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Fix: Cognito JWKS verification + issuer, exp, and token_use validation</a:t>
            </a:r>
            <a:endParaRPr lang="en-US" sz="1520" dirty="0"/>
          </a:p>
        </p:txBody>
      </p:sp>
      <p:pic>
        <p:nvPicPr>
          <p:cNvPr id="11" name="Image 0" descr="/mnt/data/report_media/imag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059" y="1325880"/>
            <a:ext cx="5426242" cy="2514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2080" y="3895344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Forged token returned another user’s orders</a:t>
            </a:r>
            <a:endParaRPr lang="en-US" sz="950" dirty="0"/>
          </a:p>
        </p:txBody>
      </p:sp>
      <p:pic>
        <p:nvPicPr>
          <p:cNvPr id="13" name="Image 1" descr="/mnt/data/report_media/image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4345649"/>
            <a:ext cx="6172200" cy="1275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5678424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After fix: forged token rejected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49808" y="507492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E3C0"/>
                </a:solidFill>
              </a:rPr>
              <a:t>Security lesson: decoding a JWT is not authentication; signature verification is the trust boundary.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3 — Sensitive Information Disclosure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The public order path was abused to reach an internal admin receipt workflow and obtain private receipt data.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057400"/>
            <a:ext cx="91440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2057400"/>
            <a:ext cx="91440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2057400"/>
            <a:ext cx="91440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66760" y="2057400"/>
            <a:ext cx="86868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" y="1645920"/>
            <a:ext cx="914400" cy="777240"/>
          </a:xfrm>
          <a:prstGeom prst="roundRect">
            <a:avLst>
              <a:gd name="adj" fmla="val 14118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755648"/>
            <a:ext cx="7680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Public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/order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2316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755648"/>
            <a:ext cx="12252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Order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Manager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755648"/>
            <a:ext cx="12252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Admin 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Receipt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9516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1755648"/>
            <a:ext cx="12252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Signed S3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URL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3544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51E27"/>
          </a:solidFill>
          <a:ln w="12700">
            <a:solidFill>
              <a:srgbClr val="00A86B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1755648"/>
            <a:ext cx="122529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Receipt ZIP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6F8FA"/>
                </a:solidFill>
              </a:rPr>
              <a:t>Downloaded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218688"/>
            <a:ext cx="54864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Root cause: unsafe request execution crossed from user-controlled input into admin-only functionality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Evidence: callback captured the admin response and the receipt ZIP was downloaded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Fix: remove unsafe deserialization from the public request path; keep admin functions behind authorization boundaries</a:t>
            </a:r>
            <a:endParaRPr lang="en-US" sz="1540" dirty="0"/>
          </a:p>
        </p:txBody>
      </p:sp>
      <p:pic>
        <p:nvPicPr>
          <p:cNvPr id="25" name="Image 0" descr="/mnt/data/report_media/image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3312898"/>
            <a:ext cx="3657600" cy="5339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903720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Downloaded receipt archive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583680" y="4343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E3C0"/>
                </a:solidFill>
              </a:rPr>
              <a:t>Impact: sensitive receipt archive became reachable without the intended admin workflow.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4 — Insecure Cloud Configuration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Direct S3 writes allowed attacker-controlled objects to enter a trusted Lambda processing path.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89888"/>
            <a:ext cx="44348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EAF0F6"/>
                </a:solidFill>
              </a:rPr>
              <a:t>• A .raw object was uploaded directly into the receipt bucket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EAF0F6"/>
                </a:solidFill>
              </a:rPr>
              <a:t>• S3 event processing generated a .txt output, proving backend execution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EAF0F6"/>
                </a:solidFill>
              </a:rPr>
              <a:t>• Fix: S3 Block Public Access + narrow write permissions + Lambda file-type validation</a:t>
            </a:r>
            <a:endParaRPr lang="en-US" sz="1560" dirty="0"/>
          </a:p>
        </p:txBody>
      </p:sp>
      <p:pic>
        <p:nvPicPr>
          <p:cNvPr id="11" name="Image 0" descr="/mnt/data/report_media/image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729837"/>
            <a:ext cx="5989320" cy="33508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40680" y="2523744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Before: .raw upload produced backend-generated .txt</a:t>
            </a:r>
            <a:endParaRPr lang="en-US" sz="950" dirty="0"/>
          </a:p>
        </p:txBody>
      </p:sp>
      <p:pic>
        <p:nvPicPr>
          <p:cNvPr id="13" name="Image 1" descr="/mnt/data/report_media/image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679531"/>
            <a:ext cx="5989320" cy="2761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4535424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After: public ACL upload blocked by S3 BlockPublicAcls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49808" y="4251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6E3C0"/>
                </a:solidFill>
              </a:rPr>
              <a:t>Cloud configuration is part of the application security boundary.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440680" y="498348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0F6"/>
                </a:solidFill>
              </a:rPr>
              <a:t>Fix location: S3 bucket permissions + DVSA-SEND-RECEIPT-EMAIL input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5 — Broken Access Control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A normal user request reached the admin order update function and changed payment-related state.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17320"/>
            <a:ext cx="438912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Exploit path reused code execution in the public order manager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Injected code invoked DVSA-ADMIN-UPDATE-ORDERS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Impact: unpaid order changed to paid with attacker-chosen confirmation token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AF0F6"/>
                </a:solidFill>
              </a:rPr>
              <a:t>• Fix: public request fields are parsed as data only; admin update path no longer executes from user input</a:t>
            </a:r>
            <a:endParaRPr lang="en-US" sz="1520" dirty="0"/>
          </a:p>
        </p:txBody>
      </p:sp>
      <p:pic>
        <p:nvPicPr>
          <p:cNvPr id="11" name="Image 0" descr="/mnt/data/report_media/image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58897"/>
            <a:ext cx="6080760" cy="132852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4960" y="3392424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Evidence: order became “paid” with attacker-controlled token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69280" y="3886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A5F"/>
                </a:solidFill>
              </a:rPr>
              <a:t>Authorization boundary violated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623560" y="437083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0F6"/>
                </a:solidFill>
              </a:rPr>
              <a:t>A public handler must never become a proxy for privileged administrative actions.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6 — Denial of Service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Repeated billing requests caused backend failures until API Gateway throttling was configured.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C0"/>
                </a:solidFill>
              </a:rPr>
              <a:t>BEFORE FIX</a:t>
            </a:r>
            <a:endParaRPr lang="en-US" sz="950" dirty="0"/>
          </a:p>
        </p:txBody>
      </p:sp>
      <p:pic>
        <p:nvPicPr>
          <p:cNvPr id="11" name="Image 0" descr="/mnt/data/report_media/image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833" y="1691640"/>
            <a:ext cx="3421614" cy="2103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8496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Flood produced repeated 500 responses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0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C0"/>
                </a:solidFill>
              </a:rPr>
              <a:t>AFTER FIX</a:t>
            </a:r>
            <a:endParaRPr lang="en-US" sz="950" dirty="0"/>
          </a:p>
        </p:txBody>
      </p:sp>
      <p:pic>
        <p:nvPicPr>
          <p:cNvPr id="14" name="Image 1" descr="/mnt/data/report_media/image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04" y="1691640"/>
            <a:ext cx="2585671" cy="2103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0" y="38496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Excess traffic throttled as 429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74920" y="2651760"/>
            <a:ext cx="118872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  <a:headEnd type="none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4343400" y="4160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8FA"/>
                </a:solidFill>
              </a:rPr>
              <a:t>API Gateway stage throttling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43484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3C0"/>
                </a:solidFill>
              </a:rPr>
              <a:t>Rate = 5 req/s • Burst = 10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60120" y="5074920"/>
            <a:ext cx="98755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Availability is a security property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EAF0F6"/>
                </a:solidFill>
              </a:rPr>
              <a:t>• Protect critical workflows before traffic reaches Lambda</a:t>
            </a:r>
            <a:endParaRPr lang="en-US" sz="15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7 — Over-Privileged Function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The receipt-email Lambda role could read backend order data beyond its intended purpose.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17320"/>
            <a:ext cx="425196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EAF0F6"/>
                </a:solidFill>
              </a:rPr>
              <a:t>• Temporary Lambda credentials inherit the full execution role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EAF0F6"/>
                </a:solidFill>
              </a:rPr>
              <a:t>• Before fix: role could scan DVSA-ORDERS-DB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EAF0F6"/>
                </a:solidFill>
              </a:rPr>
              <a:t>• Fix: least privilege on S3, DynamoDB, SES; remove Scan/write/delete actions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EAF0F6"/>
                </a:solidFill>
              </a:rPr>
              <a:t>• After fix: same scan returns AccessDenied</a:t>
            </a:r>
            <a:endParaRPr lang="en-US" sz="1510" dirty="0"/>
          </a:p>
        </p:txBody>
      </p:sp>
      <p:pic>
        <p:nvPicPr>
          <p:cNvPr id="11" name="Image 0" descr="/mnt/data/report_media/image54.png">    </p:cNvPr>
          <p:cNvPicPr>
            <a:picLocks noChangeAspect="1"/>
          </p:cNvPicPr>
          <p:nvPr/>
        </p:nvPicPr>
        <p:blipFill>
          <a:blip r:embed="rId1"/>
          <a:srcRect l="0" r="0" t="19608" b="19608"/>
          <a:stretch/>
        </p:blipFill>
        <p:spPr>
          <a:xfrm>
            <a:off x="5257800" y="1280160"/>
            <a:ext cx="6217920" cy="2057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339242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Before: scan returned order records</a:t>
            </a:r>
            <a:endParaRPr lang="en-US" sz="950" dirty="0"/>
          </a:p>
        </p:txBody>
      </p:sp>
      <p:pic>
        <p:nvPicPr>
          <p:cNvPr id="13" name="Image 1" descr="/mnt/data/report_media/image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072700"/>
            <a:ext cx="6217920" cy="8614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526694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After: dynamodb:Scan denied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49808" y="48006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6E3C0"/>
                </a:solidFill>
              </a:rPr>
              <a:t>Blast radius reduced even if the function is abused later.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8 — Logic Vulnerability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Billing and cart update requests could be processed out of sequence, creating a mismatched paid order.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pic>
        <p:nvPicPr>
          <p:cNvPr id="10" name="Image 0" descr="/mnt/data/report_media/image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188" y="1325880"/>
            <a:ext cx="3929504" cy="1691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0723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Start: one item, $25</a:t>
            </a:r>
            <a:endParaRPr lang="en-US" sz="950" dirty="0"/>
          </a:p>
        </p:txBody>
      </p:sp>
      <p:pic>
        <p:nvPicPr>
          <p:cNvPr id="12" name="Image 1" descr="/mnt/data/report_media/image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519" y="1325880"/>
            <a:ext cx="4198441" cy="1691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307238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After race: confirmation still $25</a:t>
            </a:r>
            <a:endParaRPr lang="en-US" sz="950" dirty="0"/>
          </a:p>
        </p:txBody>
      </p:sp>
      <p:pic>
        <p:nvPicPr>
          <p:cNvPr id="14" name="Image 2" descr="/mnt/data/report_media/image6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84611"/>
            <a:ext cx="9966960" cy="3208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4288536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DynamoDB: item quantity stored as 5 while totalAmount stayed 25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841248" y="4645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E3C0"/>
                </a:solidFill>
              </a:rPr>
              <a:t>Fix: DVSA-ORDER-UPDATE rejects item changes after billing starts.</a:t>
            </a:r>
            <a:endParaRPr lang="en-US" sz="1800" dirty="0"/>
          </a:p>
        </p:txBody>
      </p:sp>
      <p:pic>
        <p:nvPicPr>
          <p:cNvPr id="17" name="Image 3" descr="/mnt/data/report_media/image7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837275"/>
            <a:ext cx="4572000" cy="3655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37960" y="55686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Post-fix: update request blocked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868680" y="5285232"/>
            <a:ext cx="5029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EAF0F6"/>
                </a:solidFill>
              </a:rPr>
              <a:t>• Business logic must enforce state transitions server-side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AF0F6"/>
                </a:solidFill>
              </a:rPr>
              <a:t>• Payment amount and final stored item list must never diverge</a:t>
            </a:r>
            <a:endParaRPr lang="en-US" sz="14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10 — Unhandled Exceptions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A malformed get request leaked Python stack trace details until required-field validation was added.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pic>
        <p:nvPicPr>
          <p:cNvPr id="10" name="Image 0" descr="/mnt/data/screenshots_10/screenshots/Screenshot_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8087"/>
            <a:ext cx="5257800" cy="85298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4381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Before: KeyError + stackTrace returned to client</a:t>
            </a:r>
            <a:endParaRPr lang="en-US" sz="950" dirty="0"/>
          </a:p>
        </p:txBody>
      </p:sp>
      <p:pic>
        <p:nvPicPr>
          <p:cNvPr id="12" name="Image 1" descr="/mnt/data/screenshots_10/screenshots/Screenshot_7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924" y="1325880"/>
            <a:ext cx="4328353" cy="2057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343814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Fix: event.get() + explicit validation</a:t>
            </a:r>
            <a:endParaRPr lang="en-US" sz="950" dirty="0"/>
          </a:p>
        </p:txBody>
      </p:sp>
      <p:pic>
        <p:nvPicPr>
          <p:cNvPr id="14" name="Image 2" descr="/mnt/data/screenshots_10/screenshots/Screenshot_7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344982"/>
            <a:ext cx="6675120" cy="3168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43200" y="5084064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B1BD"/>
                </a:solidFill>
              </a:rPr>
              <a:t>After: controlled client-safe error only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2743200" y="532180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No stackTrace • No /var/task path • No source-code line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Remediation Patterns Applied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The fixes were not cosmetic; each one restored the intended security boundary for that lesson.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173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Safe parsing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69748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0F6"/>
                </a:solidFill>
              </a:rPr>
              <a:t>JSON.parse instead of unsafe deserialization</a:t>
            </a:r>
            <a:endParaRPr lang="en-US" sz="147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Verified identity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9748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0F6"/>
                </a:solidFill>
              </a:rPr>
              <a:t>Cognito JWKS signature + claim validation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Least privilege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97480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0F6"/>
                </a:solidFill>
              </a:rPr>
              <a:t>Narrow IAM actions/resources; remove broad managed policies</a:t>
            </a:r>
            <a:endParaRPr lang="en-US" sz="147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Cloud hardening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97480" y="4434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0F6"/>
                </a:solidFill>
              </a:rPr>
              <a:t>S3 Block Public Access and object validation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6492240" y="14173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Availability guardrails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676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0F6"/>
                </a:solidFill>
              </a:rPr>
              <a:t>API Gateway throttling for billing flood</a:t>
            </a:r>
            <a:endParaRPr lang="en-US" sz="1470" dirty="0"/>
          </a:p>
        </p:txBody>
      </p:sp>
      <p:sp>
        <p:nvSpPr>
          <p:cNvPr id="20" name="Text 18"/>
          <p:cNvSpPr/>
          <p:nvPr/>
        </p:nvSpPr>
        <p:spPr>
          <a:xfrm>
            <a:off x="6492240" y="2423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State enforcement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6676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0F6"/>
                </a:solidFill>
              </a:rPr>
              <a:t>Reject post-billing cart changes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6492240" y="3429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E3C0"/>
                </a:solidFill>
              </a:rPr>
              <a:t>Safe errors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66760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EAF0F6"/>
                </a:solidFill>
              </a:rPr>
              <a:t>Validate fields before use; keep details in logs</a:t>
            </a:r>
            <a:endParaRPr lang="en-US" sz="1470" dirty="0"/>
          </a:p>
        </p:txBody>
      </p:sp>
      <p:sp>
        <p:nvSpPr>
          <p:cNvPr id="24" name="Shape 22"/>
          <p:cNvSpPr/>
          <p:nvPr/>
        </p:nvSpPr>
        <p:spPr>
          <a:xfrm>
            <a:off x="6080760" y="1234440"/>
            <a:ext cx="0" cy="420624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7150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8FA"/>
                </a:solidFill>
              </a:rPr>
              <a:t>Verification repeated with the original exploit input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80160" y="6172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A fix was considered complete only when the vulnerable behavior disappeared and the intended path still behaved predictably.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8"/>
          </a:solidFill>
          <a:ln w="12700">
            <a:solidFill>
              <a:srgbClr val="0B1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12063679" cy="109728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73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6B1BD"/>
                </a:solidFill>
              </a:rPr>
              <a:t>DVSA showed that serverless security is distributed across code, identities, cloud configuration, and workflow design.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A86B"/>
                </a:solidFill>
              </a:rPr>
              <a:t>10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2057400" y="1490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6"/>
                </a:solidFill>
              </a:rPr>
              <a:t>official lessons completed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A7FF"/>
                </a:solidFill>
              </a:rPr>
              <a:t>10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2057400" y="2377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6"/>
                </a:solidFill>
              </a:rPr>
              <a:t>fixes verified after remediation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218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B429"/>
                </a:solidFill>
              </a:rPr>
              <a:t>7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2057400" y="3264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6"/>
                </a:solidFill>
              </a:rPr>
              <a:t>recurring root-cause patterns addressed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0" y="14447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8FA"/>
                </a:solidFill>
              </a:rPr>
              <a:t>Most important lessons learned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669280" y="1874520"/>
            <a:ext cx="516636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EAF0F6"/>
                </a:solidFill>
              </a:rPr>
              <a:t>• Treat all public API input as untrusted data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EAF0F6"/>
                </a:solidFill>
              </a:rPr>
              <a:t>• Verify identity cryptographically, never by decoding alone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EAF0F6"/>
                </a:solidFill>
              </a:rPr>
              <a:t>• Design Lambda roles for least privilege from the start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EAF0F6"/>
                </a:solidFill>
              </a:rPr>
              <a:t>• Protect event-driven workflows at both cloud and code layers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EAF0F6"/>
                </a:solidFill>
              </a:rPr>
              <a:t>• Make errors useful to developers, not attackers</a:t>
            </a:r>
            <a:endParaRPr lang="en-US" sz="1560" dirty="0"/>
          </a:p>
        </p:txBody>
      </p:sp>
      <p:sp>
        <p:nvSpPr>
          <p:cNvPr id="18" name="Shape 16"/>
          <p:cNvSpPr/>
          <p:nvPr/>
        </p:nvSpPr>
        <p:spPr>
          <a:xfrm>
            <a:off x="5486400" y="4224528"/>
            <a:ext cx="5440680" cy="0"/>
          </a:xfrm>
          <a:prstGeom prst="line">
            <a:avLst/>
          </a:prstGeom>
          <a:noFill/>
          <a:ln w="12700">
            <a:solidFill>
              <a:srgbClr val="2E3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4617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E3C0"/>
                </a:solidFill>
              </a:rPr>
              <a:t>Outcome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0" y="46177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0F6"/>
                </a:solidFill>
              </a:rPr>
              <a:t>The final report now contains exploit steps, evidence, exact changes, and post-fix validation for every official DVSA vulnerability.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KFUPM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ICS-344 DVSA Security Project</dc:title>
  <dc:subject>ICS-344 DVSA Vulnerability Discovery and Remediation</dc:subject>
  <dc:creator>AMJAD ALSADIQ</dc:creator>
  <cp:lastModifiedBy>AMJAD ALSADIQ</cp:lastModifiedBy>
  <cp:revision>1</cp:revision>
  <dcterms:created xsi:type="dcterms:W3CDTF">2026-05-02T14:41:42Z</dcterms:created>
  <dcterms:modified xsi:type="dcterms:W3CDTF">2026-05-02T14:41:42Z</dcterms:modified>
</cp:coreProperties>
</file>